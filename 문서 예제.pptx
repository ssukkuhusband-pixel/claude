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notesMasterIdLst>
    <p:notesMasterId r:id="rId9"/>
  </p:notesMasterIdLst>
  <p:sldIdLst>
    <p:sldId id="465" r:id="rId2"/>
    <p:sldId id="507" r:id="rId3"/>
    <p:sldId id="521" r:id="rId4"/>
    <p:sldId id="509" r:id="rId5"/>
    <p:sldId id="524" r:id="rId6"/>
    <p:sldId id="508" r:id="rId7"/>
    <p:sldId id="526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7F3"/>
    <a:srgbClr val="3A5474"/>
    <a:srgbClr val="373E47"/>
    <a:srgbClr val="454E5A"/>
    <a:srgbClr val="455A74"/>
    <a:srgbClr val="484344"/>
    <a:srgbClr val="D7380D"/>
    <a:srgbClr val="E1DDD3"/>
    <a:srgbClr val="38404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45" autoAdjust="0"/>
    <p:restoredTop sz="95105" autoAdjust="0"/>
  </p:normalViewPr>
  <p:slideViewPr>
    <p:cSldViewPr snapToGrid="0">
      <p:cViewPr varScale="1">
        <p:scale>
          <a:sx n="151" d="100"/>
          <a:sy n="151" d="100"/>
        </p:scale>
        <p:origin x="972" y="144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1C4FA-E9B8-45C8-8DFA-062B06CBC84D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4AC24-7068-4F65-A63D-6C1747FF5D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5519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8290E-D238-9F3A-5455-D74EED553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35C711-3B97-9EEF-5B6E-86DAC950E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36214F-8792-690B-D831-7DCC1DAEE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32BA88-2127-CE29-8B3B-A52174B64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4AC24-7068-4F65-A63D-6C1747FF5DD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323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CC9D6-1561-03C2-198D-A202DF215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38424-8816-43F7-B992-0B3B40BDE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B34D4F-1957-1EB2-0464-4FAD010ED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3E6EA9-E960-4E7E-530F-4C4A1E01D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4AC24-7068-4F65-A63D-6C1747FF5DD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286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E87E7-96DB-5DC0-2B11-32504649C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4E47C4-94BF-28FC-D64F-A0F16E04B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EDCD64-2CB6-B289-8A99-3D553E900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1CB315-F3D2-3A7A-BF65-40C590FF8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4AC24-7068-4F65-A63D-6C1747FF5DD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600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243C1-E7C6-5488-1042-0BDBA8476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B4C652-FB0F-476A-8BE0-229696D09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3FD5C6-A1B3-4942-4CB8-CB4FA5E52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E2B578-6343-09A7-D940-0BB31A35D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4AC24-7068-4F65-A63D-6C1747FF5DD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827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DE01-14C6-4D0D-9CFF-1F425285EE5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&lt;#&gt;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097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DE01-14C6-4D0D-9CFF-1F425285EE5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&lt;#&gt;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90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DE01-14C6-4D0D-9CFF-1F425285EE5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5AC9E-6D76-41B1-8966-F41DD1F988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350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DE01-14C6-4D0D-9CFF-1F425285EE5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5AC9E-6D76-41B1-8966-F41DD1F988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076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DE01-14C6-4D0D-9CFF-1F425285EE5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5AC9E-6D76-41B1-8966-F41DD1F988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31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DE01-14C6-4D0D-9CFF-1F425285EE5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5AC9E-6D76-41B1-8966-F41DD1F988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814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DE01-14C6-4D0D-9CFF-1F425285EE5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5AC9E-6D76-41B1-8966-F41DD1F988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28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DE01-14C6-4D0D-9CFF-1F425285EE5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5AC9E-6D76-41B1-8966-F41DD1F988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91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DE01-14C6-4D0D-9CFF-1F425285EE5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5AC9E-6D76-41B1-8966-F41DD1F988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680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DE01-14C6-4D0D-9CFF-1F425285EE5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5AC9E-6D76-41B1-8966-F41DD1F988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71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DE01-14C6-4D0D-9CFF-1F425285EE5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5AC9E-6D76-41B1-8966-F41DD1F988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214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98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BDE01-14C6-4D0D-9CFF-1F425285EE55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&lt;#&gt;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89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5D68A61C-CDA1-E5B3-96F0-153777C39051}"/>
              </a:ext>
            </a:extLst>
          </p:cNvPr>
          <p:cNvGrpSpPr/>
          <p:nvPr/>
        </p:nvGrpSpPr>
        <p:grpSpPr>
          <a:xfrm>
            <a:off x="2464788" y="1534172"/>
            <a:ext cx="4214424" cy="3065445"/>
            <a:chOff x="2464788" y="1404587"/>
            <a:chExt cx="4214424" cy="30654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3DC8540-0B29-9C9E-4E7F-9F623A73AE1C}"/>
                </a:ext>
              </a:extLst>
            </p:cNvPr>
            <p:cNvSpPr txBox="1"/>
            <p:nvPr/>
          </p:nvSpPr>
          <p:spPr>
            <a:xfrm>
              <a:off x="3108188" y="4162255"/>
              <a:ext cx="29276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기획팀 김동준</a:t>
              </a:r>
              <a:endPara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4654DDB9-2A82-E651-9331-B7335737C5C7}"/>
                </a:ext>
              </a:extLst>
            </p:cNvPr>
            <p:cNvGrpSpPr/>
            <p:nvPr/>
          </p:nvGrpSpPr>
          <p:grpSpPr>
            <a:xfrm>
              <a:off x="2464788" y="1404587"/>
              <a:ext cx="4214424" cy="2571216"/>
              <a:chOff x="2382936" y="1548966"/>
              <a:chExt cx="4214424" cy="2571216"/>
            </a:xfrm>
          </p:grpSpPr>
          <p:pic>
            <p:nvPicPr>
              <p:cNvPr id="9" name="그림 8" descr="만화 영화, 클립아트, 새, 일러스트레이션이(가) 표시된 사진&#10;&#10;AI가 생성한 콘텐츠는 부정확할 수 있습니다.">
                <a:extLst>
                  <a:ext uri="{FF2B5EF4-FFF2-40B4-BE49-F238E27FC236}">
                    <a16:creationId xmlns:a16="http://schemas.microsoft.com/office/drawing/2014/main" id="{DF5EDE10-FE9D-4104-130D-82912D8EF2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37" t="2757" r="1036" b="35558"/>
              <a:stretch>
                <a:fillRect/>
              </a:stretch>
            </p:blipFill>
            <p:spPr>
              <a:xfrm>
                <a:off x="3811385" y="1548966"/>
                <a:ext cx="1305214" cy="1332844"/>
              </a:xfrm>
              <a:custGeom>
                <a:avLst/>
                <a:gdLst>
                  <a:gd name="connsiteX0" fmla="*/ 738470 w 1476940"/>
                  <a:gd name="connsiteY0" fmla="*/ 0 h 1508206"/>
                  <a:gd name="connsiteX1" fmla="*/ 1032001 w 1476940"/>
                  <a:gd name="connsiteY1" fmla="*/ 59261 h 1508206"/>
                  <a:gd name="connsiteX2" fmla="*/ 1122758 w 1476940"/>
                  <a:gd name="connsiteY2" fmla="*/ 108522 h 1508206"/>
                  <a:gd name="connsiteX3" fmla="*/ 1160097 w 1476940"/>
                  <a:gd name="connsiteY3" fmla="*/ 141377 h 1508206"/>
                  <a:gd name="connsiteX4" fmla="*/ 1433312 w 1476940"/>
                  <a:gd name="connsiteY4" fmla="*/ 679242 h 1508206"/>
                  <a:gd name="connsiteX5" fmla="*/ 1476940 w 1476940"/>
                  <a:gd name="connsiteY5" fmla="*/ 907087 h 1508206"/>
                  <a:gd name="connsiteX6" fmla="*/ 1433312 w 1476940"/>
                  <a:gd name="connsiteY6" fmla="*/ 1047634 h 1508206"/>
                  <a:gd name="connsiteX7" fmla="*/ 738470 w 1476940"/>
                  <a:gd name="connsiteY7" fmla="*/ 1508206 h 1508206"/>
                  <a:gd name="connsiteX8" fmla="*/ 43628 w 1476940"/>
                  <a:gd name="connsiteY8" fmla="*/ 1047634 h 1508206"/>
                  <a:gd name="connsiteX9" fmla="*/ 0 w 1476940"/>
                  <a:gd name="connsiteY9" fmla="*/ 907087 h 1508206"/>
                  <a:gd name="connsiteX10" fmla="*/ 43628 w 1476940"/>
                  <a:gd name="connsiteY10" fmla="*/ 679242 h 1508206"/>
                  <a:gd name="connsiteX11" fmla="*/ 316844 w 1476940"/>
                  <a:gd name="connsiteY11" fmla="*/ 141377 h 1508206"/>
                  <a:gd name="connsiteX12" fmla="*/ 354183 w 1476940"/>
                  <a:gd name="connsiteY12" fmla="*/ 108522 h 1508206"/>
                  <a:gd name="connsiteX13" fmla="*/ 444939 w 1476940"/>
                  <a:gd name="connsiteY13" fmla="*/ 59261 h 1508206"/>
                  <a:gd name="connsiteX14" fmla="*/ 738470 w 1476940"/>
                  <a:gd name="connsiteY14" fmla="*/ 0 h 1508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76940" h="1508206">
                    <a:moveTo>
                      <a:pt x="738470" y="0"/>
                    </a:moveTo>
                    <a:cubicBezTo>
                      <a:pt x="842590" y="0"/>
                      <a:pt x="941782" y="21101"/>
                      <a:pt x="1032001" y="59261"/>
                    </a:cubicBezTo>
                    <a:lnTo>
                      <a:pt x="1122758" y="108522"/>
                    </a:lnTo>
                    <a:lnTo>
                      <a:pt x="1160097" y="141377"/>
                    </a:lnTo>
                    <a:cubicBezTo>
                      <a:pt x="1280452" y="273193"/>
                      <a:pt x="1376073" y="459855"/>
                      <a:pt x="1433312" y="679242"/>
                    </a:cubicBezTo>
                    <a:lnTo>
                      <a:pt x="1476940" y="907087"/>
                    </a:lnTo>
                    <a:lnTo>
                      <a:pt x="1433312" y="1047634"/>
                    </a:lnTo>
                    <a:cubicBezTo>
                      <a:pt x="1318833" y="1318293"/>
                      <a:pt x="1050830" y="1508206"/>
                      <a:pt x="738470" y="1508206"/>
                    </a:cubicBezTo>
                    <a:cubicBezTo>
                      <a:pt x="426110" y="1508206"/>
                      <a:pt x="158107" y="1318293"/>
                      <a:pt x="43628" y="1047634"/>
                    </a:cubicBezTo>
                    <a:lnTo>
                      <a:pt x="0" y="907087"/>
                    </a:lnTo>
                    <a:lnTo>
                      <a:pt x="43628" y="679242"/>
                    </a:lnTo>
                    <a:cubicBezTo>
                      <a:pt x="100868" y="459855"/>
                      <a:pt x="196488" y="273193"/>
                      <a:pt x="316844" y="141377"/>
                    </a:cubicBezTo>
                    <a:lnTo>
                      <a:pt x="354183" y="108522"/>
                    </a:lnTo>
                    <a:lnTo>
                      <a:pt x="444939" y="59261"/>
                    </a:lnTo>
                    <a:cubicBezTo>
                      <a:pt x="535159" y="21101"/>
                      <a:pt x="634350" y="0"/>
                      <a:pt x="738470" y="0"/>
                    </a:cubicBezTo>
                    <a:close/>
                  </a:path>
                </a:pathLst>
              </a:custGeom>
              <a:effectLst>
                <a:softEdge rad="0"/>
              </a:effectLst>
            </p:spPr>
          </p:pic>
          <p:pic>
            <p:nvPicPr>
              <p:cNvPr id="10" name="그림 9" descr="블랙, 폰트, 그래픽, 어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6272140B-FDCE-14A4-FC24-ED039AB5A7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12431" y="1906485"/>
                <a:ext cx="2103122" cy="2103122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96DF3C-121C-7FE7-B381-8A2F058C5E15}"/>
                  </a:ext>
                </a:extLst>
              </p:cNvPr>
              <p:cNvSpPr txBox="1"/>
              <p:nvPr/>
            </p:nvSpPr>
            <p:spPr>
              <a:xfrm>
                <a:off x="3484924" y="3358760"/>
                <a:ext cx="20104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2000" b="1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던전</a:t>
                </a:r>
                <a:r>
                  <a:rPr lang="en-US" altLang="ko-KR" sz="2000" b="1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_</a:t>
                </a:r>
                <a:r>
                  <a:rPr lang="ko-KR" altLang="en-US" sz="2000" b="1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대성당 개편</a:t>
                </a:r>
              </a:p>
            </p:txBody>
          </p: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D498C591-546D-79F4-5CC8-AE5C154104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2936" y="4120182"/>
                <a:ext cx="4214424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26C70E-2E52-729D-07E6-6FE51740D333}"/>
                  </a:ext>
                </a:extLst>
              </p:cNvPr>
              <p:cNvSpPr txBox="1"/>
              <p:nvPr/>
            </p:nvSpPr>
            <p:spPr>
              <a:xfrm>
                <a:off x="4126109" y="3732608"/>
                <a:ext cx="7280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200" dirty="0">
                    <a:solidFill>
                      <a:srgbClr val="C0000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Beta 15</a:t>
                </a:r>
                <a:endParaRPr lang="ko-KR" altLang="en-US" sz="12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5494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60AD5-DB29-8D87-71AB-DDD86BCD2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EA8EAE-0992-628A-70C9-9E6AACF7D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60991"/>
            <a:ext cx="2909034" cy="5152516"/>
          </a:xfrm>
          <a:prstGeom prst="rect">
            <a:avLst/>
          </a:prstGeom>
        </p:spPr>
      </p:pic>
      <p:sp>
        <p:nvSpPr>
          <p:cNvPr id="2" name="Shape 80">
            <a:extLst>
              <a:ext uri="{FF2B5EF4-FFF2-40B4-BE49-F238E27FC236}">
                <a16:creationId xmlns:a16="http://schemas.microsoft.com/office/drawing/2014/main" id="{F5BE0865-F83D-185E-744B-531509BCB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39234"/>
            <a:ext cx="7696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>
            <a:spAutoFit/>
          </a:bodyPr>
          <a:lstStyle/>
          <a:p>
            <a:pPr eaLnBrk="1"/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Meiryo" panose="020B0604030504040204" pitchFamily="34" charset="-128"/>
                <a:sym typeface="Meiryo" panose="020B0604030504040204" pitchFamily="34" charset="-128"/>
              </a:rPr>
              <a:t>대성당 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Meiryo" panose="020B0604030504040204" pitchFamily="34" charset="-128"/>
                <a:sym typeface="Meiryo" panose="020B0604030504040204" pitchFamily="34" charset="-128"/>
              </a:rPr>
              <a:t>_ 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Meiryo" panose="020B0604030504040204" pitchFamily="34" charset="-128"/>
                <a:sym typeface="Meiryo" panose="020B0604030504040204" pitchFamily="34" charset="-128"/>
              </a:rPr>
              <a:t>레벨 개념 추가</a:t>
            </a:r>
            <a:endParaRPr lang="en-US" altLang="ko-KR" b="1" dirty="0">
              <a:latin typeface="나눔스퀘어" panose="020B0600000101010101" pitchFamily="50" charset="-127"/>
              <a:ea typeface="나눔스퀘어" panose="020B0600000101010101" pitchFamily="50" charset="-127"/>
              <a:cs typeface="Meiryo" panose="020B0604030504040204" pitchFamily="34" charset="-128"/>
              <a:sym typeface="Meiryo" panose="020B0604030504040204" pitchFamily="34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FC5A68-2B94-BB7A-8C7F-68C4BFD99A54}"/>
              </a:ext>
            </a:extLst>
          </p:cNvPr>
          <p:cNvSpPr txBox="1"/>
          <p:nvPr/>
        </p:nvSpPr>
        <p:spPr>
          <a:xfrm>
            <a:off x="5123328" y="712246"/>
            <a:ext cx="3639672" cy="238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디자인</a:t>
            </a:r>
            <a:r>
              <a:rPr lang="en-US" altLang="ko-KR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/</a:t>
            </a:r>
            <a:r>
              <a:rPr lang="ko-KR" altLang="en-US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연출</a:t>
            </a:r>
            <a:r>
              <a:rPr lang="en-US" altLang="ko-KR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/</a:t>
            </a:r>
            <a:r>
              <a:rPr lang="ko-KR" altLang="en-US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컨셉 관련 부분은 </a:t>
            </a:r>
            <a:r>
              <a:rPr lang="en-US" altLang="ko-KR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UI/</a:t>
            </a:r>
            <a:r>
              <a:rPr lang="ko-KR" altLang="en-US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아트팀의 의견을 적극 반영하겠습니다</a:t>
            </a:r>
            <a:r>
              <a:rPr lang="en-US" altLang="ko-KR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9B2290-16E3-152B-8DD2-443E2C6C9D3C}"/>
              </a:ext>
            </a:extLst>
          </p:cNvPr>
          <p:cNvSpPr txBox="1"/>
          <p:nvPr/>
        </p:nvSpPr>
        <p:spPr>
          <a:xfrm>
            <a:off x="3994150" y="1160991"/>
            <a:ext cx="4921251" cy="4638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대성당에 레벨 개념을 도입한다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레벨업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방법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기도를 </a:t>
            </a: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 할 때 마다 경험치를 </a:t>
            </a: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획득한다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테이블에서 지정된 경험치에 도달하면 레벨업을 한다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레벨의 역할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축복 교환소의 해금조건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축복 교환소의 특정 상품의 구매 가능 조건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성당의 보상 테이블이 레벨에 따라 달라진다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레벨업을 할 때 </a:t>
            </a: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회에 한해 레벨별 보상이 주어진다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UI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구성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대성당 상단에 레벨과 레벨 게이지가 출력된다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레벨업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시 획득할 수 있는 보상을 미리 알 수 있도록 보물상자 아이콘을 게이지 끝에 배치한다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보물상자 아이콘을 터치하면 보상을 확인할 수 있는 팝업을 출력 </a:t>
            </a: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이것은 </a:t>
            </a:r>
            <a:r>
              <a:rPr lang="ko-KR" altLang="en-US" sz="1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메인의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구간보상과 동일한 처리를 추후 진행</a:t>
            </a: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EF78ED-2F0C-BEBA-78A1-888A426FCA0F}"/>
              </a:ext>
            </a:extLst>
          </p:cNvPr>
          <p:cNvSpPr/>
          <p:nvPr/>
        </p:nvSpPr>
        <p:spPr>
          <a:xfrm>
            <a:off x="1070342" y="1760009"/>
            <a:ext cx="1530350" cy="139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1FB8A54-133D-FD10-6E2D-134FC9E16D44}"/>
              </a:ext>
            </a:extLst>
          </p:cNvPr>
          <p:cNvSpPr/>
          <p:nvPr/>
        </p:nvSpPr>
        <p:spPr>
          <a:xfrm>
            <a:off x="1070342" y="1760009"/>
            <a:ext cx="1025158" cy="1397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7C772D-E971-7884-250B-4024CAE32290}"/>
              </a:ext>
            </a:extLst>
          </p:cNvPr>
          <p:cNvSpPr/>
          <p:nvPr/>
        </p:nvSpPr>
        <p:spPr>
          <a:xfrm>
            <a:off x="1070342" y="1760009"/>
            <a:ext cx="1530350" cy="139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63</a:t>
            </a:r>
            <a:r>
              <a:rPr lang="ko-KR" altLang="en-US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100</a:t>
            </a:r>
            <a:endParaRPr lang="ko-KR" altLang="en-US" sz="8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05EB72-6A16-C238-B8C5-3ED0B4EED68F}"/>
              </a:ext>
            </a:extLst>
          </p:cNvPr>
          <p:cNvSpPr/>
          <p:nvPr/>
        </p:nvSpPr>
        <p:spPr>
          <a:xfrm>
            <a:off x="1070342" y="1583562"/>
            <a:ext cx="1530350" cy="139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LV.2</a:t>
            </a:r>
            <a:endParaRPr lang="ko-KR" altLang="en-US" sz="12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E51C1E90-E1C1-E6EC-E304-56313B274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692" y="1667193"/>
            <a:ext cx="343076" cy="32533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11C46B8-992F-BAEF-C9C1-BC1C6D1674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3618" y="5813345"/>
            <a:ext cx="127102" cy="151544"/>
          </a:xfrm>
          <a:prstGeom prst="rect">
            <a:avLst/>
          </a:prstGeom>
        </p:spPr>
      </p:pic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48C351D-15B1-5285-3FB9-59FB2C8630D0}"/>
              </a:ext>
            </a:extLst>
          </p:cNvPr>
          <p:cNvCxnSpPr>
            <a:cxnSpLocks/>
          </p:cNvCxnSpPr>
          <p:nvPr/>
        </p:nvCxnSpPr>
        <p:spPr>
          <a:xfrm>
            <a:off x="383103" y="936738"/>
            <a:ext cx="837779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그림 30">
            <a:extLst>
              <a:ext uri="{FF2B5EF4-FFF2-40B4-BE49-F238E27FC236}">
                <a16:creationId xmlns:a16="http://schemas.microsoft.com/office/drawing/2014/main" id="{6C108A84-6275-C0C8-F932-1D730C77BF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3538" y="1667193"/>
            <a:ext cx="377384" cy="31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16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 bwMode="auto">
          <a:xfrm>
            <a:off x="381000" y="545000"/>
            <a:ext cx="7696200" cy="3693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eaLnBrk="1"/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Meiryo" panose="020B0604030504040204" pitchFamily="34" charset="-128"/>
                <a:sym typeface="Meiryo" panose="020B0604030504040204" pitchFamily="34" charset="-128"/>
              </a:rPr>
              <a:t>대성당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Meiryo" panose="020B0604030504040204" pitchFamily="34" charset="-128"/>
                <a:sym typeface="Meiryo" panose="020B0604030504040204" pitchFamily="34" charset="-128"/>
              </a:rPr>
              <a:t> _ 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Meiryo" panose="020B0604030504040204" pitchFamily="34" charset="-128"/>
                <a:sym typeface="Meiryo" panose="020B0604030504040204" pitchFamily="34" charset="-128"/>
              </a:rPr>
              <a:t>레벨 시스템 플로우</a:t>
            </a:r>
          </a:p>
        </p:txBody>
      </p:sp>
      <p:cxnSp>
        <p:nvCxnSpPr>
          <p:cNvPr id="101" name="Divider"/>
          <p:cNvCxnSpPr/>
          <p:nvPr/>
        </p:nvCxnSpPr>
        <p:spPr>
          <a:xfrm>
            <a:off x="381000" y="950000"/>
            <a:ext cx="8382000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102" name="FooterNote"/>
          <p:cNvSpPr txBox="1"/>
          <p:nvPr/>
        </p:nvSpPr>
        <p:spPr>
          <a:xfrm>
            <a:off x="5100000" y="710000"/>
            <a:ext cx="365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50000"/>
              </a:lnSpc>
            </a:pPr>
            <a:r>
              <a:rPr lang="ko-KR" altLang="en-US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디자인/연출/컨셉 관련 부분은 UI/아트팀의 의견을 적극 반영하겠습니다.</a:t>
            </a:r>
          </a:p>
        </p:txBody>
      </p:sp>
      <p:sp>
        <p:nvSpPr>
          <p:cNvPr id="200" name="Step200"/>
          <p:cNvSpPr/>
          <p:nvPr/>
        </p:nvSpPr>
        <p:spPr>
          <a:xfrm>
            <a:off x="3058000" y="1715000"/>
            <a:ext cx="2200000" cy="42000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4472C4"/>
            </a:solidFill>
          </a:ln>
          <a:effectLst>
            <a:outerShdw blurRad="40000" dist="20000" dir="5400000" algn="tl" rotWithShape="0">
              <a:srgbClr val="000000">
                <a:alpha val="20000"/>
              </a:srgbClr>
            </a:outerShdw>
          </a:effectLst>
        </p:spPr>
        <p:txBody>
          <a:bodyPr wrap="square" lIns="72000" tIns="36000" rIns="72000" bIns="36000" anchor="ctr"/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기도 수행</a:t>
            </a:r>
          </a:p>
        </p:txBody>
      </p:sp>
      <p:cxnSp>
        <p:nvCxnSpPr>
          <p:cNvPr id="201" name="Arrow201"/>
          <p:cNvCxnSpPr/>
          <p:nvPr/>
        </p:nvCxnSpPr>
        <p:spPr>
          <a:xfrm>
            <a:off x="4158000" y="2135000"/>
            <a:ext cx="0" cy="280000"/>
          </a:xfrm>
          <a:prstGeom prst="line">
            <a:avLst/>
          </a:prstGeom>
          <a:ln w="19050">
            <a:solidFill>
              <a:srgbClr val="888888"/>
            </a:solidFill>
            <a:tailEnd type="triangle" w="med" len="med"/>
          </a:ln>
        </p:spPr>
      </p:cxnSp>
      <p:sp>
        <p:nvSpPr>
          <p:cNvPr id="202" name="Step202"/>
          <p:cNvSpPr/>
          <p:nvPr/>
        </p:nvSpPr>
        <p:spPr>
          <a:xfrm>
            <a:off x="3058000" y="2415000"/>
            <a:ext cx="2200000" cy="4200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2700">
            <a:solidFill>
              <a:srgbClr val="FFC000"/>
            </a:solidFill>
          </a:ln>
          <a:effectLst>
            <a:outerShdw blurRad="40000" dist="20000" dir="5400000" algn="tl" rotWithShape="0">
              <a:srgbClr val="000000">
                <a:alpha val="20000"/>
              </a:srgbClr>
            </a:outerShdw>
          </a:effectLst>
        </p:spPr>
        <p:txBody>
          <a:bodyPr wrap="square" lIns="72000" tIns="36000" rIns="72000" bIns="36000" anchor="ctr"/>
          <a:lstStyle/>
          <a:p>
            <a:pPr algn="ctr"/>
            <a:r>
              <a:rPr lang="ko-KR" altLang="en-US" sz="1400" b="1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경험치 +1 획득</a:t>
            </a:r>
          </a:p>
        </p:txBody>
      </p:sp>
      <p:cxnSp>
        <p:nvCxnSpPr>
          <p:cNvPr id="203" name="Arrow203"/>
          <p:cNvCxnSpPr/>
          <p:nvPr/>
        </p:nvCxnSpPr>
        <p:spPr>
          <a:xfrm>
            <a:off x="4158000" y="2835000"/>
            <a:ext cx="0" cy="280000"/>
          </a:xfrm>
          <a:prstGeom prst="line">
            <a:avLst/>
          </a:prstGeom>
          <a:ln w="19050">
            <a:solidFill>
              <a:srgbClr val="888888"/>
            </a:solidFill>
            <a:tailEnd type="triangle" w="med" len="med"/>
          </a:ln>
        </p:spPr>
      </p:cxnSp>
      <p:sp>
        <p:nvSpPr>
          <p:cNvPr id="204" name="Decision204"/>
          <p:cNvSpPr/>
          <p:nvPr/>
        </p:nvSpPr>
        <p:spPr>
          <a:xfrm>
            <a:off x="2758000" y="3065000"/>
            <a:ext cx="2800000" cy="620000"/>
          </a:xfrm>
          <a:prstGeom prst="diamond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  <a:effectLst>
            <a:outerShdw blurRad="40000" dist="20000" dir="5400000" algn="tl" rotWithShape="0">
              <a:srgbClr val="000000">
                <a:alpha val="20000"/>
              </a:srgbClr>
            </a:outerShdw>
          </a:effectLst>
        </p:spPr>
        <p:txBody>
          <a:bodyPr wrap="square" lIns="72000" tIns="36000" rIns="72000" bIns="3600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레벨업 조건 달성?</a:t>
            </a:r>
          </a:p>
        </p:txBody>
      </p:sp>
      <p:cxnSp>
        <p:nvCxnSpPr>
          <p:cNvPr id="205" name="Arrow205"/>
          <p:cNvCxnSpPr/>
          <p:nvPr/>
        </p:nvCxnSpPr>
        <p:spPr>
          <a:xfrm>
            <a:off x="4158000" y="3635000"/>
            <a:ext cx="0" cy="280000"/>
          </a:xfrm>
          <a:prstGeom prst="line">
            <a:avLst/>
          </a:prstGeom>
          <a:ln w="19050">
            <a:solidFill>
              <a:srgbClr val="888888"/>
            </a:solidFill>
            <a:tailEnd type="triangle" w="med" len="med"/>
          </a:ln>
        </p:spPr>
      </p:cxnSp>
      <p:sp>
        <p:nvSpPr>
          <p:cNvPr id="206" name="Label206"/>
          <p:cNvSpPr txBox="1"/>
          <p:nvPr/>
        </p:nvSpPr>
        <p:spPr>
          <a:xfrm>
            <a:off x="3608000" y="3655000"/>
            <a:ext cx="4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ko-KR" altLang="en-US" sz="1100" b="1" dirty="0">
                <a:solidFill>
                  <a:srgbClr val="548235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YES</a:t>
            </a:r>
          </a:p>
        </p:txBody>
      </p:sp>
      <p:sp>
        <p:nvSpPr>
          <p:cNvPr id="207" name="Step207"/>
          <p:cNvSpPr/>
          <p:nvPr/>
        </p:nvSpPr>
        <p:spPr>
          <a:xfrm>
            <a:off x="3058000" y="3915000"/>
            <a:ext cx="2200000" cy="420000"/>
          </a:xfrm>
          <a:prstGeom prst="roundRect">
            <a:avLst>
              <a:gd name="adj" fmla="val 16667"/>
            </a:avLst>
          </a:prstGeom>
          <a:solidFill>
            <a:srgbClr val="548235"/>
          </a:solidFill>
          <a:ln w="12700">
            <a:solidFill>
              <a:srgbClr val="548235"/>
            </a:solidFill>
          </a:ln>
          <a:effectLst>
            <a:outerShdw blurRad="40000" dist="20000" dir="5400000" algn="tl" rotWithShape="0">
              <a:srgbClr val="000000">
                <a:alpha val="20000"/>
              </a:srgbClr>
            </a:outerShdw>
          </a:effectLst>
        </p:spPr>
        <p:txBody>
          <a:bodyPr wrap="square" lIns="72000" tIns="36000" rIns="72000" bIns="36000" anchor="ctr"/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레벨업! 보상 획득</a:t>
            </a:r>
          </a:p>
        </p:txBody>
      </p:sp>
      <p:cxnSp>
        <p:nvCxnSpPr>
          <p:cNvPr id="208" name="Arrow208"/>
          <p:cNvCxnSpPr/>
          <p:nvPr/>
        </p:nvCxnSpPr>
        <p:spPr>
          <a:xfrm>
            <a:off x="4158000" y="4335000"/>
            <a:ext cx="0" cy="280000"/>
          </a:xfrm>
          <a:prstGeom prst="line">
            <a:avLst/>
          </a:prstGeom>
          <a:ln w="19050">
            <a:solidFill>
              <a:srgbClr val="888888"/>
            </a:solidFill>
            <a:tailEnd type="triangle" w="med" len="med"/>
          </a:ln>
        </p:spPr>
      </p:cxnSp>
      <p:sp>
        <p:nvSpPr>
          <p:cNvPr id="209" name="Step209"/>
          <p:cNvSpPr/>
          <p:nvPr/>
        </p:nvSpPr>
        <p:spPr>
          <a:xfrm>
            <a:off x="3058000" y="4615000"/>
            <a:ext cx="2200000" cy="420000"/>
          </a:xfrm>
          <a:prstGeom prst="roundRect">
            <a:avLst>
              <a:gd name="adj" fmla="val 16667"/>
            </a:avLst>
          </a:prstGeom>
          <a:solidFill>
            <a:srgbClr val="ED7D31"/>
          </a:solidFill>
          <a:ln w="12700">
            <a:solidFill>
              <a:srgbClr val="ED7D31"/>
            </a:solidFill>
          </a:ln>
          <a:effectLst>
            <a:outerShdw blurRad="40000" dist="20000" dir="5400000" algn="tl" rotWithShape="0">
              <a:srgbClr val="000000">
                <a:alpha val="20000"/>
              </a:srgbClr>
            </a:outerShdw>
          </a:effectLst>
        </p:spPr>
        <p:txBody>
          <a:bodyPr wrap="square" lIns="72000" tIns="36000" rIns="72000" bIns="3600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게이지 초기화 (EXP → 0)</a:t>
            </a:r>
          </a:p>
        </p:txBody>
      </p:sp>
      <p:cxnSp>
        <p:nvCxnSpPr>
          <p:cNvPr id="210" name="Arrow210"/>
          <p:cNvCxnSpPr/>
          <p:nvPr/>
        </p:nvCxnSpPr>
        <p:spPr>
          <a:xfrm>
            <a:off x="4158000" y="5035000"/>
            <a:ext cx="0" cy="200000"/>
          </a:xfrm>
          <a:prstGeom prst="line">
            <a:avLst/>
          </a:prstGeom>
          <a:ln w="19050">
            <a:solidFill>
              <a:srgbClr val="888888"/>
            </a:solidFill>
            <a:tailEnd type="triangle" w="med" len="med"/>
          </a:ln>
        </p:spPr>
      </p:cxnSp>
      <p:cxnSp>
        <p:nvCxnSpPr>
          <p:cNvPr id="211" name="ReturnH1"/>
          <p:cNvCxnSpPr/>
          <p:nvPr/>
        </p:nvCxnSpPr>
        <p:spPr>
          <a:xfrm flipH="1">
            <a:off x="2686000" y="5235000"/>
            <a:ext cx="1472000" cy="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212" name="ReturnV"/>
          <p:cNvCxnSpPr/>
          <p:nvPr/>
        </p:nvCxnSpPr>
        <p:spPr>
          <a:xfrm flipV="1">
            <a:off x="2686000" y="1925000"/>
            <a:ext cx="0" cy="33100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213" name="ReturnH2"/>
          <p:cNvCxnSpPr/>
          <p:nvPr/>
        </p:nvCxnSpPr>
        <p:spPr>
          <a:xfrm>
            <a:off x="2686000" y="1925000"/>
            <a:ext cx="372000" cy="0"/>
          </a:xfrm>
          <a:prstGeom prst="line">
            <a:avLst/>
          </a:prstGeom>
          <a:ln w="19050">
            <a:solidFill>
              <a:srgbClr val="888888"/>
            </a:solidFill>
            <a:tailEnd type="triangle" w="med" len="med"/>
          </a:ln>
        </p:spPr>
      </p:cxnSp>
      <p:sp>
        <p:nvSpPr>
          <p:cNvPr id="214" name="Label214"/>
          <p:cNvSpPr txBox="1"/>
          <p:nvPr/>
        </p:nvSpPr>
        <p:spPr>
          <a:xfrm>
            <a:off x="2086000" y="4045000"/>
            <a:ext cx="5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ko-KR" altLang="en-US" sz="1000" b="1" dirty="0">
                <a:solidFill>
                  <a:srgbClr val="88888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반복</a:t>
            </a:r>
          </a:p>
        </p:txBody>
      </p:sp>
      <p:cxnSp>
        <p:nvCxnSpPr>
          <p:cNvPr id="215" name="HArrow215"/>
          <p:cNvCxnSpPr/>
          <p:nvPr/>
        </p:nvCxnSpPr>
        <p:spPr>
          <a:xfrm>
            <a:off x="5458000" y="3375000"/>
            <a:ext cx="528000" cy="0"/>
          </a:xfrm>
          <a:prstGeom prst="line">
            <a:avLst/>
          </a:prstGeom>
          <a:ln w="19050">
            <a:solidFill>
              <a:srgbClr val="888888"/>
            </a:solidFill>
            <a:tailEnd type="triangle" w="med" len="med"/>
          </a:ln>
        </p:spPr>
      </p:cxnSp>
      <p:sp>
        <p:nvSpPr>
          <p:cNvPr id="216" name="Label216"/>
          <p:cNvSpPr txBox="1"/>
          <p:nvPr/>
        </p:nvSpPr>
        <p:spPr>
          <a:xfrm>
            <a:off x="5636000" y="3115000"/>
            <a:ext cx="5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NO</a:t>
            </a:r>
          </a:p>
        </p:txBody>
      </p:sp>
      <p:sp>
        <p:nvSpPr>
          <p:cNvPr id="217" name="Step217"/>
          <p:cNvSpPr/>
          <p:nvPr/>
        </p:nvSpPr>
        <p:spPr>
          <a:xfrm>
            <a:off x="6086000" y="3165000"/>
            <a:ext cx="1700000" cy="420000"/>
          </a:xfrm>
          <a:prstGeom prst="roundRect">
            <a:avLst>
              <a:gd name="adj" fmla="val 16667"/>
            </a:avLst>
          </a:prstGeom>
          <a:solidFill>
            <a:srgbClr val="E0E0E0"/>
          </a:solidFill>
          <a:ln w="12700">
            <a:solidFill>
              <a:srgbClr val="F2F2F2"/>
            </a:solidFill>
          </a:ln>
          <a:effectLst>
            <a:outerShdw blurRad="40000" dist="20000" dir="5400000" algn="tl" rotWithShape="0">
              <a:srgbClr val="000000">
                <a:alpha val="20000"/>
              </a:srgbClr>
            </a:outerShdw>
          </a:effectLst>
        </p:spPr>
        <p:txBody>
          <a:bodyPr wrap="square" lIns="72000" tIns="36000" rIns="72000" bIns="36000" anchor="ctr"/>
          <a:lstStyle/>
          <a:p>
            <a:pPr algn="ctr"/>
            <a:r>
              <a:rPr lang="ko-KR" altLang="en-US" sz="1200" b="1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계속 기도</a:t>
            </a:r>
          </a:p>
        </p:txBody>
      </p:sp>
      <p:sp>
        <p:nvSpPr>
          <p:cNvPr id="220" name="Desc220"/>
          <p:cNvSpPr txBox="1"/>
          <p:nvPr/>
        </p:nvSpPr>
        <p:spPr>
          <a:xfrm>
            <a:off x="5458000" y="2415000"/>
            <a:ext cx="2600000" cy="42000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</a:ln>
        </p:spPr>
        <p:txBody>
          <a:bodyPr wrap="square" lIns="72000" tIns="45000" rIns="72000" bIns="45000" anchor="ctr"/>
          <a:lstStyle/>
          <a:p>
            <a:pPr algn="l">
              <a:lnSpc>
                <a:spcPct val="130000"/>
              </a:lnSpc>
            </a:pPr>
            <a:r>
              <a:rPr lang="ko-KR" altLang="en-US" sz="1000" dirty="0">
                <a:solidFill>
                  <a:srgbClr val="66666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기도 1회당 경험치 1 획득</a:t>
            </a:r>
          </a:p>
          <a:p>
            <a:pPr algn="l">
              <a:lnSpc>
                <a:spcPct val="130000"/>
              </a:lnSpc>
            </a:pPr>
            <a:r>
              <a:rPr lang="ko-KR" altLang="en-US" sz="1000" dirty="0">
                <a:solidFill>
                  <a:srgbClr val="66666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레벨 게이지에 경험치 누적 표시</a:t>
            </a:r>
          </a:p>
        </p:txBody>
      </p:sp>
      <p:sp>
        <p:nvSpPr>
          <p:cNvPr id="221" name="Desc221"/>
          <p:cNvSpPr txBox="1"/>
          <p:nvPr/>
        </p:nvSpPr>
        <p:spPr>
          <a:xfrm>
            <a:off x="5458000" y="3885000"/>
            <a:ext cx="2600000" cy="50000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</a:ln>
        </p:spPr>
        <p:txBody>
          <a:bodyPr wrap="square" lIns="72000" tIns="45000" rIns="72000" bIns="45000" anchor="ctr"/>
          <a:lstStyle/>
          <a:p>
            <a:pPr algn="l">
              <a:lnSpc>
                <a:spcPct val="130000"/>
              </a:lnSpc>
            </a:pPr>
            <a:r>
              <a:rPr lang="ko-KR" altLang="en-US" sz="1000" dirty="0">
                <a:solidFill>
                  <a:srgbClr val="66666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레벨업 팝업 출력</a:t>
            </a:r>
          </a:p>
          <a:p>
            <a:pPr algn="l">
              <a:lnSpc>
                <a:spcPct val="130000"/>
              </a:lnSpc>
            </a:pPr>
            <a:r>
              <a:rPr lang="ko-KR" altLang="en-US" sz="1000" dirty="0">
                <a:solidFill>
                  <a:srgbClr val="66666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레벨별 보상 지급 (1회)</a:t>
            </a:r>
          </a:p>
          <a:p>
            <a:pPr algn="l">
              <a:lnSpc>
                <a:spcPct val="130000"/>
              </a:lnSpc>
            </a:pPr>
            <a:r>
              <a:rPr lang="ko-KR" altLang="en-US" sz="1000" dirty="0">
                <a:solidFill>
                  <a:srgbClr val="66666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축복 교환소/컨텐츠 해금</a:t>
            </a:r>
          </a:p>
        </p:txBody>
      </p:sp>
      <p:sp>
        <p:nvSpPr>
          <p:cNvPr id="222" name="Desc222"/>
          <p:cNvSpPr txBox="1"/>
          <p:nvPr/>
        </p:nvSpPr>
        <p:spPr>
          <a:xfrm>
            <a:off x="5458000" y="4615000"/>
            <a:ext cx="2600000" cy="42000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</a:ln>
        </p:spPr>
        <p:txBody>
          <a:bodyPr wrap="square" lIns="72000" tIns="45000" rIns="72000" bIns="45000" anchor="ctr"/>
          <a:lstStyle/>
          <a:p>
            <a:pPr algn="l">
              <a:lnSpc>
                <a:spcPct val="130000"/>
              </a:lnSpc>
            </a:pPr>
            <a:r>
              <a:rPr lang="ko-KR" altLang="en-US" sz="1000" dirty="0">
                <a:solidFill>
                  <a:srgbClr val="66666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다음 레벨 경험치 0부터 시작</a:t>
            </a:r>
          </a:p>
          <a:p>
            <a:pPr algn="l">
              <a:lnSpc>
                <a:spcPct val="130000"/>
              </a:lnSpc>
            </a:pPr>
            <a:r>
              <a:rPr lang="ko-KR" altLang="en-US" sz="1000" dirty="0">
                <a:solidFill>
                  <a:srgbClr val="66666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새로운 보상 테이블 적용</a:t>
            </a:r>
          </a:p>
        </p:txBody>
      </p:sp>
      <p:cxnSp>
        <p:nvCxnSpPr>
          <p:cNvPr id="230" name="DashLine230"/>
          <p:cNvCxnSpPr/>
          <p:nvPr/>
        </p:nvCxnSpPr>
        <p:spPr>
          <a:xfrm>
            <a:off x="5258000" y="2625000"/>
            <a:ext cx="20000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231" name="DashLine231"/>
          <p:cNvCxnSpPr/>
          <p:nvPr/>
        </p:nvCxnSpPr>
        <p:spPr>
          <a:xfrm>
            <a:off x="5258000" y="4125000"/>
            <a:ext cx="20000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232" name="DashLine232"/>
          <p:cNvCxnSpPr/>
          <p:nvPr/>
        </p:nvCxnSpPr>
        <p:spPr>
          <a:xfrm>
            <a:off x="5258000" y="4825000"/>
            <a:ext cx="20000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240" name="ReturnNote"/>
          <p:cNvSpPr txBox="1"/>
          <p:nvPr/>
        </p:nvSpPr>
        <p:spPr>
          <a:xfrm>
            <a:off x="6086000" y="3525000"/>
            <a:ext cx="17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t"/>
          <a:lstStyle/>
          <a:p>
            <a:pPr algn="ctr"/>
            <a:r>
              <a:rPr lang="ko-KR" altLang="en-US" sz="900" i="1" dirty="0">
                <a:solidFill>
                  <a:srgbClr val="88888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→ 기도 수행으로 돌아감</a:t>
            </a:r>
          </a:p>
        </p:txBody>
      </p:sp>
    </p:spTree>
    <p:extLst>
      <p:ext uri="{BB962C8B-B14F-4D97-AF65-F5344CB8AC3E}">
        <p14:creationId xmlns:p14="http://schemas.microsoft.com/office/powerpoint/2010/main" val="1661130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923C0-09EC-EDDA-5C77-F156972D3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66DA9A-F7EC-39D3-D20D-D117B5A31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60991"/>
            <a:ext cx="2909034" cy="5152516"/>
          </a:xfrm>
          <a:prstGeom prst="rect">
            <a:avLst/>
          </a:prstGeom>
        </p:spPr>
      </p:pic>
      <p:sp>
        <p:nvSpPr>
          <p:cNvPr id="2" name="Shape 80">
            <a:extLst>
              <a:ext uri="{FF2B5EF4-FFF2-40B4-BE49-F238E27FC236}">
                <a16:creationId xmlns:a16="http://schemas.microsoft.com/office/drawing/2014/main" id="{4A22103B-9AB6-F091-FC4B-49BB4B692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39234"/>
            <a:ext cx="7696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>
            <a:spAutoFit/>
          </a:bodyPr>
          <a:lstStyle/>
          <a:p>
            <a:pPr eaLnBrk="1"/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Meiryo" panose="020B0604030504040204" pitchFamily="34" charset="-128"/>
                <a:sym typeface="Meiryo" panose="020B0604030504040204" pitchFamily="34" charset="-128"/>
              </a:rPr>
              <a:t>대성당 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Meiryo" panose="020B0604030504040204" pitchFamily="34" charset="-128"/>
                <a:sym typeface="Meiryo" panose="020B0604030504040204" pitchFamily="34" charset="-128"/>
              </a:rPr>
              <a:t>_ </a:t>
            </a:r>
            <a:r>
              <a:rPr lang="ko-KR" altLang="en-US" b="1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eiryo" panose="020B0604030504040204" pitchFamily="34" charset="-128"/>
                <a:sym typeface="Meiryo" panose="020B0604030504040204" pitchFamily="34" charset="-128"/>
              </a:rPr>
              <a:t>레벨업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Meiryo" panose="020B0604030504040204" pitchFamily="34" charset="-128"/>
                <a:sym typeface="Meiryo" panose="020B0604030504040204" pitchFamily="34" charset="-128"/>
              </a:rPr>
              <a:t> 게이지 및 보상</a:t>
            </a:r>
            <a:endParaRPr lang="en-US" altLang="ko-KR" b="1" dirty="0">
              <a:latin typeface="나눔스퀘어" panose="020B0600000101010101" pitchFamily="50" charset="-127"/>
              <a:ea typeface="나눔스퀘어" panose="020B0600000101010101" pitchFamily="50" charset="-127"/>
              <a:cs typeface="Meiryo" panose="020B0604030504040204" pitchFamily="34" charset="-128"/>
              <a:sym typeface="Meiryo" panose="020B0604030504040204" pitchFamily="34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025949-4D57-4173-FE04-6E56A0D6211C}"/>
              </a:ext>
            </a:extLst>
          </p:cNvPr>
          <p:cNvSpPr txBox="1"/>
          <p:nvPr/>
        </p:nvSpPr>
        <p:spPr>
          <a:xfrm>
            <a:off x="5123328" y="712246"/>
            <a:ext cx="3639672" cy="238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디자인</a:t>
            </a:r>
            <a:r>
              <a:rPr lang="en-US" altLang="ko-KR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/</a:t>
            </a:r>
            <a:r>
              <a:rPr lang="ko-KR" altLang="en-US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연출</a:t>
            </a:r>
            <a:r>
              <a:rPr lang="en-US" altLang="ko-KR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/</a:t>
            </a:r>
            <a:r>
              <a:rPr lang="ko-KR" altLang="en-US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컨셉 관련 부분은 </a:t>
            </a:r>
            <a:r>
              <a:rPr lang="en-US" altLang="ko-KR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UI/</a:t>
            </a:r>
            <a:r>
              <a:rPr lang="ko-KR" altLang="en-US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아트팀의 의견을 적극 반영하겠습니다</a:t>
            </a:r>
            <a:r>
              <a:rPr lang="en-US" altLang="ko-KR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97D479-896E-5AA7-9128-1E5855B5F718}"/>
              </a:ext>
            </a:extLst>
          </p:cNvPr>
          <p:cNvSpPr txBox="1"/>
          <p:nvPr/>
        </p:nvSpPr>
        <p:spPr>
          <a:xfrm>
            <a:off x="3994150" y="1160991"/>
            <a:ext cx="4921251" cy="3368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기도를 해서 기도 게이지가 가득 차면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게이지가 반짝이는 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기본 기도 보상을 먼저 획득하고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</a:t>
            </a: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신의 은총이 발동 되었다면 신의 은총까지 다 진행한 후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성당 메인으로 복귀하면 </a:t>
            </a:r>
            <a:r>
              <a:rPr lang="ko-KR" altLang="en-US" sz="1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레벨업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팝업을 출력한다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팝업의 내용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기도가 가상하여 신의 가호가 더 강해졌다는 정도의 표현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레벨업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보상을 이 팝업에서 보여주고 지급한다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팝업이 닫히면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레벨 게이지는 다음 레벨의 경험치 </a:t>
            </a: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상태가 된다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성당 레벨업을 통해 해금된 컨텐츠는 별도로 해금되었음을 표시하진 않는다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82E443-3936-C580-D0FA-8E7D234996F7}"/>
              </a:ext>
            </a:extLst>
          </p:cNvPr>
          <p:cNvSpPr/>
          <p:nvPr/>
        </p:nvSpPr>
        <p:spPr>
          <a:xfrm>
            <a:off x="1070342" y="1760009"/>
            <a:ext cx="1530350" cy="139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A7946B-8DEF-CA15-833D-E4CC4A7C77B1}"/>
              </a:ext>
            </a:extLst>
          </p:cNvPr>
          <p:cNvSpPr/>
          <p:nvPr/>
        </p:nvSpPr>
        <p:spPr>
          <a:xfrm>
            <a:off x="1070342" y="1760009"/>
            <a:ext cx="1530350" cy="1397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40FFF34-AEB4-472A-A179-47DDE38FF9D3}"/>
              </a:ext>
            </a:extLst>
          </p:cNvPr>
          <p:cNvSpPr/>
          <p:nvPr/>
        </p:nvSpPr>
        <p:spPr>
          <a:xfrm>
            <a:off x="1070342" y="1760009"/>
            <a:ext cx="1530350" cy="139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100</a:t>
            </a:r>
            <a:r>
              <a:rPr lang="ko-KR" altLang="en-US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100</a:t>
            </a:r>
            <a:endParaRPr lang="ko-KR" altLang="en-US" sz="8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6C4A3C-E208-C057-D901-69B640C14D25}"/>
              </a:ext>
            </a:extLst>
          </p:cNvPr>
          <p:cNvSpPr/>
          <p:nvPr/>
        </p:nvSpPr>
        <p:spPr>
          <a:xfrm>
            <a:off x="1070342" y="1583562"/>
            <a:ext cx="1530350" cy="139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LV.2</a:t>
            </a:r>
            <a:endParaRPr lang="ko-KR" altLang="en-US" sz="12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35E96937-593C-D4CA-C162-4C8C6E03D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3618" y="5813345"/>
            <a:ext cx="127102" cy="151544"/>
          </a:xfrm>
          <a:prstGeom prst="rect">
            <a:avLst/>
          </a:prstGeom>
        </p:spPr>
      </p:pic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2DDD751-4E71-14B7-538A-D407F7A201EB}"/>
              </a:ext>
            </a:extLst>
          </p:cNvPr>
          <p:cNvCxnSpPr>
            <a:cxnSpLocks/>
          </p:cNvCxnSpPr>
          <p:nvPr/>
        </p:nvCxnSpPr>
        <p:spPr>
          <a:xfrm>
            <a:off x="383103" y="936738"/>
            <a:ext cx="837779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1E925976-742A-CE19-43C3-75930EE48C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493" y="1653412"/>
            <a:ext cx="377384" cy="31882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F569E7D-AB6A-30BB-6E12-AB3638131882}"/>
              </a:ext>
            </a:extLst>
          </p:cNvPr>
          <p:cNvSpPr/>
          <p:nvPr/>
        </p:nvSpPr>
        <p:spPr>
          <a:xfrm>
            <a:off x="381000" y="1160989"/>
            <a:ext cx="2909034" cy="5152516"/>
          </a:xfrm>
          <a:prstGeom prst="rect">
            <a:avLst/>
          </a:prstGeom>
          <a:solidFill>
            <a:schemeClr val="tx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너의 기도가 가상하다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기도가 하늘에 닿아 신의 가호가 더 강해졌습니다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REWARD</a:t>
            </a:r>
          </a:p>
          <a:p>
            <a:pPr algn="ctr"/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화면을 터치해주세요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10" descr="상징, 일렉트릭 블루, 그래픽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C9683-66A8-AD9C-B3A7-EE8B2697D4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0516" y="3940647"/>
            <a:ext cx="570001" cy="55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019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61839-E522-696A-658B-8E1B05C80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C308E9-BEB7-D054-DC3E-3D5F78512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66" y="1160991"/>
            <a:ext cx="2889468" cy="5152516"/>
          </a:xfrm>
          <a:prstGeom prst="rect">
            <a:avLst/>
          </a:prstGeom>
        </p:spPr>
      </p:pic>
      <p:sp>
        <p:nvSpPr>
          <p:cNvPr id="2" name="Shape 80">
            <a:extLst>
              <a:ext uri="{FF2B5EF4-FFF2-40B4-BE49-F238E27FC236}">
                <a16:creationId xmlns:a16="http://schemas.microsoft.com/office/drawing/2014/main" id="{DA13EAA3-6216-DF37-1C9B-CDF4B3786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39234"/>
            <a:ext cx="7696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>
            <a:spAutoFit/>
          </a:bodyPr>
          <a:lstStyle/>
          <a:p>
            <a:pPr eaLnBrk="1"/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Meiryo" panose="020B0604030504040204" pitchFamily="34" charset="-128"/>
                <a:sym typeface="Meiryo" panose="020B0604030504040204" pitchFamily="34" charset="-128"/>
              </a:rPr>
              <a:t>대성당 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Meiryo" panose="020B0604030504040204" pitchFamily="34" charset="-128"/>
                <a:sym typeface="Meiryo" panose="020B0604030504040204" pitchFamily="34" charset="-128"/>
              </a:rPr>
              <a:t>_ 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Meiryo" panose="020B0604030504040204" pitchFamily="34" charset="-128"/>
                <a:sym typeface="Meiryo" panose="020B0604030504040204" pitchFamily="34" charset="-128"/>
              </a:rPr>
              <a:t>레벨에 따른 보상 변경</a:t>
            </a:r>
            <a:endParaRPr lang="en-US" altLang="ko-KR" b="1" dirty="0">
              <a:latin typeface="나눔스퀘어" panose="020B0600000101010101" pitchFamily="50" charset="-127"/>
              <a:ea typeface="나눔스퀘어" panose="020B0600000101010101" pitchFamily="50" charset="-127"/>
              <a:cs typeface="Meiryo" panose="020B0604030504040204" pitchFamily="34" charset="-128"/>
              <a:sym typeface="Meiryo" panose="020B0604030504040204" pitchFamily="34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12551E-9390-52C3-A5E3-713B3464A6EC}"/>
              </a:ext>
            </a:extLst>
          </p:cNvPr>
          <p:cNvSpPr txBox="1"/>
          <p:nvPr/>
        </p:nvSpPr>
        <p:spPr>
          <a:xfrm>
            <a:off x="5123328" y="712246"/>
            <a:ext cx="3639672" cy="238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디자인</a:t>
            </a:r>
            <a:r>
              <a:rPr lang="en-US" altLang="ko-KR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/</a:t>
            </a:r>
            <a:r>
              <a:rPr lang="ko-KR" altLang="en-US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연출</a:t>
            </a:r>
            <a:r>
              <a:rPr lang="en-US" altLang="ko-KR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/</a:t>
            </a:r>
            <a:r>
              <a:rPr lang="ko-KR" altLang="en-US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컨셉 관련 부분은 </a:t>
            </a:r>
            <a:r>
              <a:rPr lang="en-US" altLang="ko-KR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UI/</a:t>
            </a:r>
            <a:r>
              <a:rPr lang="ko-KR" altLang="en-US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아트팀의 의견을 적극 반영하겠습니다</a:t>
            </a:r>
            <a:r>
              <a:rPr lang="en-US" altLang="ko-KR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FBEE5A-CE82-1D24-C538-EBAA9C98E8C4}"/>
              </a:ext>
            </a:extLst>
          </p:cNvPr>
          <p:cNvSpPr txBox="1"/>
          <p:nvPr/>
        </p:nvSpPr>
        <p:spPr>
          <a:xfrm>
            <a:off x="3994150" y="1160991"/>
            <a:ext cx="4921251" cy="286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레벨에 따라 보상의 목록이 달라진다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성당의 모든 보상 목록은 레벨에 따라 </a:t>
            </a:r>
            <a:r>
              <a:rPr lang="en-US" altLang="ko-KR" sz="1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RewardId</a:t>
            </a: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분리한다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보상 팝업에 레벨 출력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신의 은총 특별 보상 팝업에 현재 레벨을 출력한다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다른 레벨의 보상 목록 확인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레벨 표시 좌우의 화살표(◀ ▶)를 터치하여 이전/다음 레벨로 전환한다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레벨 전환 시 해당 레벨의 보상 목록이 팝업에 출력된다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현재 레벨이 아닌 다른 레벨 조회 시 보상은 확인만 가능하고 수령은 불가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D0C1D5-FA52-1DC1-C6D5-C7AB5AC5AD06}"/>
              </a:ext>
            </a:extLst>
          </p:cNvPr>
          <p:cNvSpPr/>
          <p:nvPr/>
        </p:nvSpPr>
        <p:spPr>
          <a:xfrm>
            <a:off x="1488340" y="1956690"/>
            <a:ext cx="713920" cy="139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LV.2</a:t>
            </a:r>
            <a:endParaRPr lang="ko-KR" altLang="en-US" sz="11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5A68AF3-4042-4DF3-998D-A86181785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3618" y="5813345"/>
            <a:ext cx="127102" cy="151544"/>
          </a:xfrm>
          <a:prstGeom prst="rect">
            <a:avLst/>
          </a:prstGeom>
        </p:spPr>
      </p:pic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A85B30D-7474-3C0B-89C9-C5B001EBD2BF}"/>
              </a:ext>
            </a:extLst>
          </p:cNvPr>
          <p:cNvCxnSpPr>
            <a:cxnSpLocks/>
          </p:cNvCxnSpPr>
          <p:nvPr/>
        </p:nvCxnSpPr>
        <p:spPr>
          <a:xfrm>
            <a:off x="383103" y="936738"/>
            <a:ext cx="837779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LeftArrow"/>
          <p:cNvSpPr/>
          <p:nvPr/>
        </p:nvSpPr>
        <p:spPr>
          <a:xfrm rot="16200000">
            <a:off x="1282800" y="1955800"/>
            <a:ext cx="165000" cy="139700"/>
          </a:xfrm>
          <a:prstGeom prst="triangle">
            <a:avLst>
              <a:gd name="adj" fmla="val 50000"/>
            </a:avLst>
          </a:prstGeom>
          <a:solidFill>
            <a:srgbClr val="A0A0A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ko-KR"/>
          </a:p>
        </p:txBody>
      </p:sp>
      <p:sp>
        <p:nvSpPr>
          <p:cNvPr id="51" name="RightArrow"/>
          <p:cNvSpPr/>
          <p:nvPr/>
        </p:nvSpPr>
        <p:spPr>
          <a:xfrm rot="5400000">
            <a:off x="2235200" y="1955800"/>
            <a:ext cx="165000" cy="139700"/>
          </a:xfrm>
          <a:prstGeom prst="triangle">
            <a:avLst>
              <a:gd name="adj" fmla="val 50000"/>
            </a:avLst>
          </a:prstGeom>
          <a:solidFill>
            <a:srgbClr val="A0A0A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ko-KR"/>
          </a:p>
        </p:txBody>
      </p:sp>
      <p:sp>
        <p:nvSpPr>
          <p:cNvPr id="52" name="ArrowAnnotation"/>
          <p:cNvSpPr txBox="1"/>
          <p:nvPr/>
        </p:nvSpPr>
        <p:spPr>
          <a:xfrm>
            <a:off x="1232800" y="1705800"/>
            <a:ext cx="1200000" cy="200000"/>
          </a:xfrm>
          <a:prstGeom prst="rect">
            <a:avLst/>
          </a:prstGeom>
          <a:solidFill>
            <a:srgbClr val="FFC000">
              <a:alpha val="85000"/>
            </a:srgbClr>
          </a:solidFill>
          <a:ln w="6350">
            <a:solidFill>
              <a:srgbClr val="E0A00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ko-KR" altLang="en-US" sz="700" b="1" dirty="0">
                <a:solidFill>
                  <a:srgbClr val="333333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◀ ▶ 레벨 변경 화살표</a:t>
            </a:r>
          </a:p>
        </p:txBody>
      </p:sp>
    </p:spTree>
    <p:extLst>
      <p:ext uri="{BB962C8B-B14F-4D97-AF65-F5344CB8AC3E}">
        <p14:creationId xmlns:p14="http://schemas.microsoft.com/office/powerpoint/2010/main" val="3247131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A2636-248A-86E1-B9DF-1E01E4187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슬롯 머신, 브랜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5EDC27-94E3-7F7C-BE6B-4E5437864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60991"/>
            <a:ext cx="2888399" cy="5152516"/>
          </a:xfrm>
          <a:prstGeom prst="rect">
            <a:avLst/>
          </a:prstGeom>
        </p:spPr>
      </p:pic>
      <p:sp>
        <p:nvSpPr>
          <p:cNvPr id="2" name="Shape 80">
            <a:extLst>
              <a:ext uri="{FF2B5EF4-FFF2-40B4-BE49-F238E27FC236}">
                <a16:creationId xmlns:a16="http://schemas.microsoft.com/office/drawing/2014/main" id="{41ADFADF-F499-F9D7-7EBD-90CD5762A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39234"/>
            <a:ext cx="7696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>
            <a:spAutoFit/>
          </a:bodyPr>
          <a:lstStyle/>
          <a:p>
            <a:pPr eaLnBrk="1"/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Meiryo" panose="020B0604030504040204" pitchFamily="34" charset="-128"/>
                <a:sym typeface="Meiryo" panose="020B0604030504040204" pitchFamily="34" charset="-128"/>
              </a:rPr>
              <a:t>대성당 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Meiryo" panose="020B0604030504040204" pitchFamily="34" charset="-128"/>
                <a:sym typeface="Meiryo" panose="020B0604030504040204" pitchFamily="34" charset="-128"/>
              </a:rPr>
              <a:t>_ 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Meiryo" panose="020B0604030504040204" pitchFamily="34" charset="-128"/>
                <a:sym typeface="Meiryo" panose="020B0604030504040204" pitchFamily="34" charset="-128"/>
              </a:rPr>
              <a:t>교환소 상품의 레벨에 따른 해금</a:t>
            </a:r>
            <a:endParaRPr lang="en-US" altLang="ko-KR" b="1" dirty="0">
              <a:latin typeface="나눔스퀘어" panose="020B0600000101010101" pitchFamily="50" charset="-127"/>
              <a:ea typeface="나눔스퀘어" panose="020B0600000101010101" pitchFamily="50" charset="-127"/>
              <a:cs typeface="Meiryo" panose="020B0604030504040204" pitchFamily="34" charset="-128"/>
              <a:sym typeface="Meiryo" panose="020B0604030504040204" pitchFamily="34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926CC9-433B-5A2B-94BD-1F38C93A2B57}"/>
              </a:ext>
            </a:extLst>
          </p:cNvPr>
          <p:cNvSpPr txBox="1"/>
          <p:nvPr/>
        </p:nvSpPr>
        <p:spPr>
          <a:xfrm>
            <a:off x="5123328" y="712246"/>
            <a:ext cx="3639672" cy="238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디자인</a:t>
            </a:r>
            <a:r>
              <a:rPr lang="en-US" altLang="ko-KR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/</a:t>
            </a:r>
            <a:r>
              <a:rPr lang="ko-KR" altLang="en-US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연출</a:t>
            </a:r>
            <a:r>
              <a:rPr lang="en-US" altLang="ko-KR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/</a:t>
            </a:r>
            <a:r>
              <a:rPr lang="ko-KR" altLang="en-US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컨셉 관련 부분은 </a:t>
            </a:r>
            <a:r>
              <a:rPr lang="en-US" altLang="ko-KR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UI/</a:t>
            </a:r>
            <a:r>
              <a:rPr lang="ko-KR" altLang="en-US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아트팀의 의견을 적극 반영하겠습니다</a:t>
            </a:r>
            <a:r>
              <a:rPr lang="en-US" altLang="ko-KR" sz="7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FD542F-288E-5C85-E344-897E6B12D9F7}"/>
              </a:ext>
            </a:extLst>
          </p:cNvPr>
          <p:cNvSpPr/>
          <p:nvPr/>
        </p:nvSpPr>
        <p:spPr>
          <a:xfrm>
            <a:off x="1421761" y="3690408"/>
            <a:ext cx="806876" cy="1275291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대성당</a:t>
            </a:r>
            <a:endParaRPr lang="en-US" altLang="ko-KR" sz="1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레벨 </a:t>
            </a:r>
            <a:r>
              <a:rPr lang="en-US" altLang="ko-KR" sz="1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</a:p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해금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A2C88C-2772-6551-4DC9-CDA74B752719}"/>
              </a:ext>
            </a:extLst>
          </p:cNvPr>
          <p:cNvSpPr/>
          <p:nvPr/>
        </p:nvSpPr>
        <p:spPr>
          <a:xfrm>
            <a:off x="2345580" y="3690408"/>
            <a:ext cx="806876" cy="1275291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대성당</a:t>
            </a:r>
            <a:endParaRPr lang="en-US" altLang="ko-KR" sz="1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레벨 </a:t>
            </a:r>
            <a:r>
              <a:rPr lang="en-US" altLang="ko-KR" sz="1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</a:p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해금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23F719-04D8-DD0D-1EA7-B8E8126E692C}"/>
              </a:ext>
            </a:extLst>
          </p:cNvPr>
          <p:cNvSpPr txBox="1"/>
          <p:nvPr/>
        </p:nvSpPr>
        <p:spPr>
          <a:xfrm>
            <a:off x="3994150" y="1160991"/>
            <a:ext cx="4921251" cy="2099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교환소의 상품은 성당의 레벨에 따라 해금될 수 있다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상품 목록의 테이블에 해금 조건 컬럼을 추가한다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해금되지 않은 상품 처리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목록은 노출하고</a:t>
            </a: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언제 해금되는지를 알려준다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어떤 상품인지는 보여야 해금하고 싶을 것이기 때문에 가급적 상품의 아이콘은 어느정도 보이면 좋겠음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A5AC785-044F-3177-05DC-8D42F49C18B9}"/>
              </a:ext>
            </a:extLst>
          </p:cNvPr>
          <p:cNvCxnSpPr>
            <a:cxnSpLocks/>
          </p:cNvCxnSpPr>
          <p:nvPr/>
        </p:nvCxnSpPr>
        <p:spPr>
          <a:xfrm>
            <a:off x="383103" y="936738"/>
            <a:ext cx="837779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792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uideHeaderBar"/>
          <p:cNvSpPr/>
          <p:nvPr/>
        </p:nvSpPr>
        <p:spPr>
          <a:xfrm>
            <a:off x="381000" y="533400"/>
            <a:ext cx="7696200" cy="36830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1" name="GuideHeaderTitle"/>
          <p:cNvSpPr txBox="1"/>
          <p:nvPr/>
        </p:nvSpPr>
        <p:spPr>
          <a:xfrm>
            <a:off x="381000" y="533400"/>
            <a:ext cx="7696200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  <a:latin typeface="나눔스퀘어" pitchFamily="50" charset="-127"/>
                <a:ea typeface="나눔스퀘어" pitchFamily="50" charset="-127"/>
              </a:rPr>
              <a:t>📋 PPT 양식 가이드 (Style Guide)</a:t>
            </a:r>
          </a:p>
        </p:txBody>
      </p:sp>
      <p:cxnSp>
        <p:nvCxnSpPr>
          <p:cNvPr id="102" name="GuideDivider"/>
          <p:cNvCxnSpPr/>
          <p:nvPr/>
        </p:nvCxnSpPr>
        <p:spPr>
          <a:xfrm>
            <a:off x="381000" y="939800"/>
            <a:ext cx="8382000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103" name="LayoutTitle"/>
          <p:cNvSpPr txBox="1"/>
          <p:nvPr/>
        </p:nvSpPr>
        <p:spPr>
          <a:xfrm>
            <a:off x="381000" y="1041400"/>
            <a:ext cx="3657600" cy="304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200" b="1" dirty="0">
                <a:solidFill>
                  <a:srgbClr val="2F5496"/>
                </a:solidFill>
                <a:latin typeface="나눔스퀘어" pitchFamily="50" charset="-127"/>
                <a:ea typeface="나눔스퀘어" pitchFamily="50" charset="-127"/>
              </a:rPr>
              <a:t>▎슬라이드 레이아웃 구조</a:t>
            </a:r>
          </a:p>
        </p:txBody>
      </p:sp>
      <p:sp>
        <p:nvSpPr>
          <p:cNvPr id="104" name="SlideFrame"/>
          <p:cNvSpPr/>
          <p:nvPr/>
        </p:nvSpPr>
        <p:spPr>
          <a:xfrm>
            <a:off x="457200" y="1320800"/>
            <a:ext cx="3556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05" name="DiagHeader"/>
          <p:cNvSpPr/>
          <p:nvPr/>
        </p:nvSpPr>
        <p:spPr>
          <a:xfrm>
            <a:off x="533400" y="1397000"/>
            <a:ext cx="3276600" cy="15240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6" name="DiagHeaderLabel"/>
          <p:cNvSpPr txBox="1"/>
          <p:nvPr/>
        </p:nvSpPr>
        <p:spPr>
          <a:xfrm>
            <a:off x="533400" y="1371600"/>
            <a:ext cx="3276600" cy="203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ko-KR" altLang="en-US" sz="800" b="1" dirty="0">
                <a:solidFill>
                  <a:srgbClr val="FFFFFF"/>
                </a:solidFill>
                <a:latin typeface="나눔스퀘어" pitchFamily="50" charset="-127"/>
                <a:ea typeface="나눔스퀘어" pitchFamily="50" charset="-127"/>
              </a:rPr>
              <a:t>대성당 _ {주제}</a:t>
            </a:r>
          </a:p>
        </p:txBody>
      </p:sp>
      <p:cxnSp>
        <p:nvCxnSpPr>
          <p:cNvPr id="107" name="DiagDividerLine"/>
          <p:cNvCxnSpPr/>
          <p:nvPr/>
        </p:nvCxnSpPr>
        <p:spPr>
          <a:xfrm>
            <a:off x="533400" y="1574800"/>
            <a:ext cx="3276600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108" name="DiagDisclaimer"/>
          <p:cNvSpPr txBox="1"/>
          <p:nvPr/>
        </p:nvSpPr>
        <p:spPr>
          <a:xfrm>
            <a:off x="2362200" y="1600200"/>
            <a:ext cx="1447800" cy="177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ko-KR" altLang="en-US" sz="600" i="1" dirty="0">
                <a:solidFill>
                  <a:srgbClr val="999999"/>
                </a:solidFill>
                <a:latin typeface="나눔스퀘어" pitchFamily="50" charset="-127"/>
                <a:ea typeface="나눔스퀘어" pitchFamily="50" charset="-127"/>
              </a:rPr>
              <a:t>디자인/연출 관련 안내문 (7pt)</a:t>
            </a:r>
          </a:p>
        </p:txBody>
      </p:sp>
      <p:sp>
        <p:nvSpPr>
          <p:cNvPr id="109" name="DiagImageArea"/>
          <p:cNvSpPr/>
          <p:nvPr/>
        </p:nvSpPr>
        <p:spPr>
          <a:xfrm>
            <a:off x="533400" y="1803400"/>
            <a:ext cx="1295400" cy="2133600"/>
          </a:xfrm>
          <a:prstGeom prst="rect">
            <a:avLst/>
          </a:prstGeom>
          <a:solidFill>
            <a:srgbClr val="E8E8E8"/>
          </a:solidFill>
          <a:ln w="0"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0" name="DiagImageLabel"/>
          <p:cNvSpPr txBox="1"/>
          <p:nvPr/>
        </p:nvSpPr>
        <p:spPr>
          <a:xfrm>
            <a:off x="533400" y="2730500"/>
            <a:ext cx="1295400" cy="330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ko-KR" altLang="en-US" sz="900" dirty="0">
                <a:solidFill>
                  <a:srgbClr val="888888"/>
                </a:solidFill>
                <a:latin typeface="나눔스퀘어" pitchFamily="50" charset="-127"/>
                <a:ea typeface="나눔스퀘어" pitchFamily="50" charset="-127"/>
              </a:rPr>
              <a:t>참고 이미지</a:t>
            </a:r>
            <a:br>
              <a:rPr lang="ko-KR" sz="900" dirty="0"/>
            </a:br>
            <a:r>
              <a:rPr lang="ko-KR" altLang="en-US" sz="700" dirty="0">
                <a:solidFill>
                  <a:srgbClr val="AAAAAA"/>
                </a:solidFill>
                <a:latin typeface="나눔스퀘어" pitchFamily="50" charset="-127"/>
                <a:ea typeface="나눔스퀘어" pitchFamily="50" charset="-127"/>
              </a:rPr>
              <a:t>(~229×406pt)</a:t>
            </a:r>
          </a:p>
        </p:txBody>
      </p:sp>
      <p:sp>
        <p:nvSpPr>
          <p:cNvPr id="111" name="DiagContentArea"/>
          <p:cNvSpPr/>
          <p:nvPr/>
        </p:nvSpPr>
        <p:spPr>
          <a:xfrm>
            <a:off x="1981200" y="1803400"/>
            <a:ext cx="1841500" cy="2133600"/>
          </a:xfrm>
          <a:prstGeom prst="rect">
            <a:avLst/>
          </a:prstGeom>
          <a:solidFill>
            <a:srgbClr val="F0F4FF"/>
          </a:solidFill>
          <a:ln w="0"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2" name="DiagContentLabel"/>
          <p:cNvSpPr txBox="1"/>
          <p:nvPr/>
        </p:nvSpPr>
        <p:spPr>
          <a:xfrm>
            <a:off x="1981200" y="1803400"/>
            <a:ext cx="1841500" cy="2133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91440" indent="0" algn="l">
              <a:buNone/>
            </a:pPr>
            <a:r>
              <a:rPr lang="ko-KR" altLang="en-US" sz="800" b="1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번호 목록 콘텐츠</a:t>
            </a:r>
          </a:p>
          <a:p>
            <a:pPr marL="91440" indent="0" algn="l">
              <a:buNone/>
            </a:pPr>
            <a:r>
              <a:rPr lang="ko-KR" altLang="en-US" sz="700" dirty="0">
                <a:solidFill>
                  <a:srgbClr val="666666"/>
                </a:solidFill>
                <a:latin typeface="나눔스퀘어" pitchFamily="50" charset="-127"/>
                <a:ea typeface="나눔스퀘어" pitchFamily="50" charset="-127"/>
              </a:rPr>
              <a:t>1. 주요 항목</a:t>
            </a:r>
          </a:p>
          <a:p>
            <a:pPr marL="91440" indent="0" algn="l">
              <a:buNone/>
            </a:pPr>
            <a:r>
              <a:rPr lang="ko-KR" altLang="en-US" sz="700" dirty="0">
                <a:solidFill>
                  <a:srgbClr val="666666"/>
                </a:solidFill>
                <a:latin typeface="나눔스퀘어" pitchFamily="50" charset="-127"/>
                <a:ea typeface="나눔스퀘어" pitchFamily="50" charset="-127"/>
              </a:rPr>
              <a:t>   - 하위 항목</a:t>
            </a:r>
          </a:p>
          <a:p>
            <a:pPr marL="91440" indent="0" algn="l">
              <a:buNone/>
            </a:pPr>
            <a:r>
              <a:rPr lang="ko-KR" altLang="en-US" sz="700" dirty="0">
                <a:solidFill>
                  <a:srgbClr val="666666"/>
                </a:solidFill>
                <a:latin typeface="나눔스퀘어" pitchFamily="50" charset="-127"/>
                <a:ea typeface="나눔스퀘어" pitchFamily="50" charset="-127"/>
              </a:rPr>
              <a:t>   - 하위 항목</a:t>
            </a:r>
          </a:p>
          <a:p>
            <a:pPr marL="91440" indent="0" algn="l">
              <a:buNone/>
            </a:pPr>
            <a:r>
              <a:rPr lang="ko-KR" altLang="en-US" sz="700" dirty="0">
                <a:solidFill>
                  <a:srgbClr val="666666"/>
                </a:solidFill>
                <a:latin typeface="나눔스퀘어" pitchFamily="50" charset="-127"/>
                <a:ea typeface="나눔스퀘어" pitchFamily="50" charset="-127"/>
              </a:rPr>
              <a:t>2. 주요 항목</a:t>
            </a:r>
          </a:p>
          <a:p>
            <a:pPr marL="91440" indent="0" algn="l">
              <a:buNone/>
            </a:pPr>
            <a:r>
              <a:rPr lang="ko-KR" altLang="en-US" sz="700" dirty="0">
                <a:solidFill>
                  <a:srgbClr val="666666"/>
                </a:solidFill>
                <a:latin typeface="나눔스퀘어" pitchFamily="50" charset="-127"/>
                <a:ea typeface="나눔스퀘어" pitchFamily="50" charset="-127"/>
              </a:rPr>
              <a:t>   - 하위 항목</a:t>
            </a:r>
          </a:p>
        </p:txBody>
      </p:sp>
      <p:sp>
        <p:nvSpPr>
          <p:cNvPr id="120" name="FontSpec"/>
          <p:cNvSpPr txBox="1"/>
          <p:nvPr/>
        </p:nvSpPr>
        <p:spPr>
          <a:xfrm>
            <a:off x="4267200" y="1041400"/>
            <a:ext cx="3810000" cy="1651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200" b="1" dirty="0">
                <a:solidFill>
                  <a:srgbClr val="2F5496"/>
                </a:solidFill>
                <a:latin typeface="나눔스퀘어" pitchFamily="50" charset="-127"/>
                <a:ea typeface="나눔스퀘어" pitchFamily="50" charset="-127"/>
              </a:rPr>
              <a:t>▎폰트 및 텍스트 규격</a:t>
            </a:r>
          </a:p>
          <a:p>
            <a:pPr algn="l">
              <a:lnSpc>
                <a:spcPct val="160000"/>
              </a:lnSpc>
              <a:buNone/>
            </a:pP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본문 폰트: </a:t>
            </a:r>
            <a:r>
              <a:rPr lang="ko-KR" altLang="en-US" sz="900" dirty="0" err="1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나눔스퀘어</a:t>
            </a: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 (</a:t>
            </a:r>
            <a:r>
              <a:rPr lang="en-US" altLang="ko-KR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10~</a:t>
            </a: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11pt)</a:t>
            </a:r>
          </a:p>
          <a:p>
            <a:pPr algn="l">
              <a:lnSpc>
                <a:spcPct val="160000"/>
              </a:lnSpc>
              <a:buNone/>
            </a:pP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기호 폰트: Meiryo</a:t>
            </a:r>
          </a:p>
          <a:p>
            <a:pPr algn="l">
              <a:lnSpc>
                <a:spcPct val="160000"/>
              </a:lnSpc>
              <a:buNone/>
            </a:pP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헤더 제목: 나눔스퀘어 Bold (기본 크기)</a:t>
            </a:r>
          </a:p>
          <a:p>
            <a:pPr algn="l">
              <a:lnSpc>
                <a:spcPct val="160000"/>
              </a:lnSpc>
              <a:buNone/>
            </a:pP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안내문: 7pt 이탤릭, 회색 (50% 밝기)</a:t>
            </a:r>
          </a:p>
          <a:p>
            <a:pPr algn="l">
              <a:lnSpc>
                <a:spcPct val="160000"/>
              </a:lnSpc>
              <a:buNone/>
            </a:pP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줄간격: 150%</a:t>
            </a:r>
          </a:p>
          <a:p>
            <a:pPr algn="l">
              <a:lnSpc>
                <a:spcPct val="160000"/>
              </a:lnSpc>
              <a:buNone/>
            </a:pP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번호 매기기: arabicPeriod (1. 2. 3.)</a:t>
            </a:r>
          </a:p>
          <a:p>
            <a:pPr algn="l">
              <a:lnSpc>
                <a:spcPct val="160000"/>
              </a:lnSpc>
              <a:buNone/>
            </a:pP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하위 항목: 대시(-) 접두어 + 줄바꿈(br)</a:t>
            </a:r>
          </a:p>
        </p:txBody>
      </p:sp>
      <p:sp>
        <p:nvSpPr>
          <p:cNvPr id="121" name="PosSpec"/>
          <p:cNvSpPr txBox="1"/>
          <p:nvPr/>
        </p:nvSpPr>
        <p:spPr>
          <a:xfrm>
            <a:off x="4267200" y="2921000"/>
            <a:ext cx="3810000" cy="254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ko-KR" altLang="en-US" sz="1200" b="1" dirty="0">
                <a:solidFill>
                  <a:srgbClr val="2F5496"/>
                </a:solidFill>
                <a:latin typeface="나눔스퀘어" pitchFamily="50" charset="-127"/>
                <a:ea typeface="나눔스퀘어" pitchFamily="50" charset="-127"/>
              </a:rPr>
              <a:t>▎위치 및 간격 (단위: pt)</a:t>
            </a:r>
          </a:p>
          <a:p>
            <a:pPr algn="l">
              <a:lnSpc>
                <a:spcPct val="160000"/>
              </a:lnSpc>
              <a:buNone/>
            </a:pPr>
            <a:r>
              <a:rPr lang="ko-KR" altLang="en-US" sz="900" b="1" dirty="0">
                <a:solidFill>
                  <a:srgbClr val="555555"/>
                </a:solidFill>
                <a:latin typeface="나눔스퀘어" pitchFamily="50" charset="-127"/>
                <a:ea typeface="나눔스퀘어" pitchFamily="50" charset="-127"/>
              </a:rPr>
              <a:t>[슬라이드] 720 × 540pt (4:3)</a:t>
            </a:r>
          </a:p>
          <a:p>
            <a:pPr algn="l">
              <a:lnSpc>
                <a:spcPct val="160000"/>
              </a:lnSpc>
              <a:buNone/>
            </a:pP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헤더 바: left 30, top 42, w 606, h 29</a:t>
            </a:r>
          </a:p>
          <a:p>
            <a:pPr algn="l">
              <a:lnSpc>
                <a:spcPct val="160000"/>
              </a:lnSpc>
              <a:buNone/>
            </a:pP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구분선: left 30, top 74, w 660 (회색 #BFBFBF)</a:t>
            </a:r>
          </a:p>
          <a:p>
            <a:pPr algn="l">
              <a:lnSpc>
                <a:spcPct val="160000"/>
              </a:lnSpc>
              <a:buNone/>
            </a:pP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안내문: 우측정렬, top 56</a:t>
            </a:r>
          </a:p>
          <a:p>
            <a:pPr algn="l">
              <a:lnSpc>
                <a:spcPct val="160000"/>
              </a:lnSpc>
              <a:buNone/>
            </a:pP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참고 이미지: left 30, top 91, ~229×406</a:t>
            </a:r>
          </a:p>
          <a:p>
            <a:pPr algn="l">
              <a:lnSpc>
                <a:spcPct val="160000"/>
              </a:lnSpc>
              <a:buNone/>
            </a:pP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텍스트 영역: left 315, top 91, ~388×365</a:t>
            </a:r>
          </a:p>
          <a:p>
            <a:pPr algn="l">
              <a:lnSpc>
                <a:spcPct val="160000"/>
              </a:lnSpc>
              <a:buNone/>
            </a:pPr>
            <a:endParaRPr lang="ko-KR" altLang="en-US" sz="900" dirty="0"/>
          </a:p>
          <a:p>
            <a:pPr algn="l">
              <a:lnSpc>
                <a:spcPct val="160000"/>
              </a:lnSpc>
              <a:buNone/>
            </a:pPr>
            <a:r>
              <a:rPr lang="ko-KR" altLang="en-US" sz="900" b="1" dirty="0">
                <a:solidFill>
                  <a:srgbClr val="555555"/>
                </a:solidFill>
                <a:latin typeface="나눔스퀘어" pitchFamily="50" charset="-127"/>
                <a:ea typeface="나눔스퀘어" pitchFamily="50" charset="-127"/>
              </a:rPr>
              <a:t>[헤더 제목 형식]</a:t>
            </a:r>
          </a:p>
          <a:p>
            <a:pPr algn="l">
              <a:lnSpc>
                <a:spcPct val="160000"/>
              </a:lnSpc>
              <a:buNone/>
            </a:pP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“</a:t>
            </a:r>
            <a:r>
              <a:rPr lang="en-US" altLang="ko-KR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{</a:t>
            </a: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대주제</a:t>
            </a:r>
            <a:r>
              <a:rPr lang="en-US" altLang="ko-KR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}</a:t>
            </a: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 _ {소주제}" (나눔스퀘어 Bold)</a:t>
            </a:r>
          </a:p>
          <a:p>
            <a:pPr algn="l">
              <a:lnSpc>
                <a:spcPct val="160000"/>
              </a:lnSpc>
              <a:buNone/>
            </a:pPr>
            <a:endParaRPr lang="ko-KR" altLang="en-US" sz="900" dirty="0"/>
          </a:p>
          <a:p>
            <a:pPr algn="l">
              <a:lnSpc>
                <a:spcPct val="160000"/>
              </a:lnSpc>
              <a:buNone/>
            </a:pPr>
            <a:r>
              <a:rPr lang="ko-KR" altLang="en-US" sz="900" b="1" dirty="0">
                <a:solidFill>
                  <a:srgbClr val="555555"/>
                </a:solidFill>
                <a:latin typeface="나눔스퀘어" pitchFamily="50" charset="-127"/>
                <a:ea typeface="나눔스퀘어" pitchFamily="50" charset="-127"/>
              </a:rPr>
              <a:t>[안내문 텍스트]</a:t>
            </a:r>
          </a:p>
          <a:p>
            <a:pPr algn="l">
              <a:lnSpc>
                <a:spcPct val="160000"/>
              </a:lnSpc>
              <a:buNone/>
            </a:pP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"디자인/연출/컨셉 관련 부분은</a:t>
            </a:r>
          </a:p>
          <a:p>
            <a:pPr algn="l">
              <a:lnSpc>
                <a:spcPct val="160000"/>
              </a:lnSpc>
              <a:buNone/>
            </a:pPr>
            <a:r>
              <a:rPr lang="ko-KR" altLang="en-US" sz="900" dirty="0">
                <a:solidFill>
                  <a:srgbClr val="333333"/>
                </a:solidFill>
                <a:latin typeface="나눔스퀘어" pitchFamily="50" charset="-127"/>
                <a:ea typeface="나눔스퀘어" pitchFamily="50" charset="-127"/>
              </a:rPr>
              <a:t> UI/아트팀의 의견을 적극 반영하겠습니다."</a:t>
            </a:r>
          </a:p>
        </p:txBody>
      </p:sp>
      <p:sp>
        <p:nvSpPr>
          <p:cNvPr id="130" name="BottomNote"/>
          <p:cNvSpPr txBox="1"/>
          <p:nvPr/>
        </p:nvSpPr>
        <p:spPr>
          <a:xfrm>
            <a:off x="381000" y="6451600"/>
            <a:ext cx="8382000" cy="304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buNone/>
            </a:pPr>
            <a:r>
              <a:rPr lang="ko-KR" altLang="en-US" sz="800" i="1" dirty="0">
                <a:solidFill>
                  <a:srgbClr val="999999"/>
                </a:solidFill>
                <a:latin typeface="나눔스퀘어" pitchFamily="50" charset="-127"/>
                <a:ea typeface="나눔스퀘어" pitchFamily="50" charset="-127"/>
              </a:rPr>
              <a:t>※ 이 슬라이드는 양식 참고용입니다. 새 PPT 작업 시 이 내용을 AI에게 공유하면 동일한 양식을 적용할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261635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97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6BAAF88-2090-4D51-B812-F5DD48B9BABE}">
  <we:reference id="wa200010001" version="1.0.0.0" store="ko-KR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11372</TotalTime>
  <Words>782</Words>
  <Application>Microsoft Office PowerPoint</Application>
  <PresentationFormat>화면 슬라이드 쇼(4:3)</PresentationFormat>
  <Paragraphs>117</Paragraphs>
  <Slides>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나눔스퀘어</vt:lpstr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진석 주</dc:creator>
  <cp:lastModifiedBy>동준 김</cp:lastModifiedBy>
  <cp:revision>325</cp:revision>
  <dcterms:created xsi:type="dcterms:W3CDTF">2025-07-22T09:10:57Z</dcterms:created>
  <dcterms:modified xsi:type="dcterms:W3CDTF">2026-02-17T08:42:57Z</dcterms:modified>
</cp:coreProperties>
</file>